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WhiskedAway: a boutique wedding catering business, and this project as the relational database that runs both its public website and internal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purpose: couples use the site to browse packages and request quotes; staff use the same database to run bookings, staffing, and billing.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ERD at a high level: point out the events table as the hub, and the junction tables resolving many-to-many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design rationale: why junction tables were used, why invoices are 1:1 with events but 1:N with payments, and how foreign keys enforce referential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 describe one CRUD example per operation, referencing the business task each one solves (e.g., marking an invoice Paid).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advanced query result (e.g., revenue by package) and both views, explaining why a view was the right tool for repeated reporting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two real challenges faced while designing the schema and how they were solved, e.g. modeling many-to-many relationships and installment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note that all SQL scripts, sample data, and the ERD are included as separate submission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WhiskedAway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for Wedding Catering Operations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Concept  •  Database Schema  •  CRUD  •  Business Intelligence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F5F4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5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WhiskedAway?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WhiskedAway is a boutique wedding catering company. Its web application lets engaged couples browse menu photos, compare package pricing, and request a quote — while the same database runs internal operations behind the scenes.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BCF"/>
            </a:solidFill>
            <a:prstDash val="solid"/>
          </a:ln>
          <a:effectLst>
            <a:outerShdw sx="100000" sy="100000" kx="0" ky="0" algn="bl" rotWithShape="0" blurRad="101600" dist="38100" dir="5400000">
              <a:srgbClr val="352518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5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Customer-Facing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0" y="20299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food gallery, live per-guest pricing, and a quote-request contact form.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29718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BCF"/>
            </a:solidFill>
            <a:prstDash val="solid"/>
          </a:ln>
          <a:effectLst>
            <a:outerShdw sx="100000" sy="100000" kx="0" ky="0" algn="bl" rotWithShape="0" blurRad="101600" dist="38100" dir="5400000">
              <a:srgbClr val="35251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3108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5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34472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events, assign staff, and attach optional add-on services per wedding.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43891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BCF"/>
            </a:solidFill>
            <a:prstDash val="solid"/>
          </a:ln>
          <a:effectLst>
            <a:outerShdw sx="100000" sy="100000" kx="0" ky="0" algn="bl" rotWithShape="0" blurRad="101600" dist="38100" dir="5400000">
              <a:srgbClr val="352518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4526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5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8646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invoices and track partial/installment payments to full settlement.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5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tables — customer, catalog, operational, and financial data, linked by foreign keys.</a:t>
            </a:r>
            <a:endParaRPr lang="en-US" sz="1300" dirty="0"/>
          </a:p>
        </p:txBody>
      </p:sp>
      <p:pic>
        <p:nvPicPr>
          <p:cNvPr id="5" name="Image 0" descr="whiskedaway_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2032" y="1783080"/>
            <a:ext cx="7095744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5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Relationships &amp; Design Rationale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146304" cy="146304"/>
          </a:xfrm>
          <a:prstGeom prst="ellipse">
            <a:avLst/>
          </a:prstGeom>
          <a:solidFill>
            <a:srgbClr val="8F5F4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2704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is the hub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5623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joins one customer, one venue, and one package_tier — the center of the schema.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06624"/>
            <a:ext cx="146304" cy="146304"/>
          </a:xfrm>
          <a:prstGeom prst="ellipse">
            <a:avLst/>
          </a:prstGeom>
          <a:solidFill>
            <a:srgbClr val="8F5F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7860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Junction tables for M:N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077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package_menu_items, event_addons, and event_staff_assignments resolve many-to-many relationships (a package has many dishes; a dish appears in many packages) without duplicate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58184"/>
            <a:ext cx="146304" cy="146304"/>
          </a:xfrm>
          <a:prstGeom prst="ellipse">
            <a:avLst/>
          </a:prstGeom>
          <a:solidFill>
            <a:srgbClr val="8F5F4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3016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 invoices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959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has exactly one invoice (enforced with a UNIQUE foreign key), while an invoice can receive many payments — supporting installment billing.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09744"/>
            <a:ext cx="146304" cy="146304"/>
          </a:xfrm>
          <a:prstGeom prst="ellipse">
            <a:avLst/>
          </a:prstGeom>
          <a:solidFill>
            <a:srgbClr val="8F5F4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8172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010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 uses an explicit FOREIGN KEY constraint with ON UPDATE/DELETE rules, so an event can never point to a deleted customer or venue.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5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2E5D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8F5F4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customer profile the moment they inquire.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2E5DA"/>
          </a:solidFill>
          <a:ln/>
        </p:spPr>
      </p:sp>
      <p:sp>
        <p:nvSpPr>
          <p:cNvPr id="9" name="Shape 7"/>
          <p:cNvSpPr/>
          <p:nvPr/>
        </p:nvSpPr>
        <p:spPr>
          <a:xfrm>
            <a:off x="3703320" y="19659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50808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965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274320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event booked by one customer, joined across venue and package.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2E5DA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19659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965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74320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 invoice "Paid" once a balance is settled in full.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2E5DA"/>
          </a:solidFill>
          <a:ln/>
        </p:spPr>
      </p:sp>
      <p:sp>
        <p:nvSpPr>
          <p:cNvPr id="17" name="Shape 15"/>
          <p:cNvSpPr/>
          <p:nvPr/>
        </p:nvSpPr>
        <p:spPr>
          <a:xfrm>
            <a:off x="9464040" y="19659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9464040" y="1965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64040" y="274320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canceled add-on selection from an event.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5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Cases &amp; 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package tiers earn the most confirmed revenue?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SUM/COUNT grouped by package, filtered to real bookings.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customers have an outstanding balance?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 nets payments against each invoice.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dishes appear across the most packages?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GROUP BY ranks menu items by cross-package reach.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DB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43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5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vw_event_dashboard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event combining customer, venue, package, invoice status, and balance — a front-desk-ready view.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41605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DB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4343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5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vw_monthly_revenue_report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47091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rollup of confirmed events, guests, and revenue — a leadership reporting dashboard.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5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2E5D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Packages and menu items are both reusable and share a many-to-many relationship.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3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Introduced a package_menu_items junction table instead of duplicating dish data inside each package row.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2E5D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8152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Installment payments meant an invoice's "amount paid" isn't a single stored column.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3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Kept payments as its own table and computed running totals with a correlated subquery / view instead of a fragile cached field.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WhiskedAway — SQL scripts, sample data, and the ERD are included in the accompanying submission files.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2026-07-17T03:20:18Z</dcterms:created>
  <dcterms:modified xsi:type="dcterms:W3CDTF">2026-07-17T03:20:18Z</dcterms:modified>
</cp:coreProperties>
</file>